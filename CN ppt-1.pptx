
<file path=[Content_Types].xml><?xml version="1.0" encoding="utf-8"?>
<Types xmlns="http://schemas.openxmlformats.org/package/2006/content-types"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61" r:id="rId4"/>
    <p:sldId id="290" r:id="rId5"/>
    <p:sldId id="260" r:id="rId6"/>
    <p:sldId id="274" r:id="rId7"/>
    <p:sldId id="272" r:id="rId8"/>
    <p:sldId id="275" r:id="rId9"/>
    <p:sldId id="282" r:id="rId10"/>
    <p:sldId id="283" r:id="rId11"/>
    <p:sldId id="289" r:id="rId12"/>
    <p:sldId id="281" r:id="rId13"/>
    <p:sldId id="284" r:id="rId14"/>
    <p:sldId id="288" r:id="rId15"/>
    <p:sldId id="285" r:id="rId16"/>
    <p:sldId id="286" r:id="rId17"/>
    <p:sldId id="287" r:id="rId18"/>
    <p:sldId id="279" r:id="rId19"/>
    <p:sldId id="280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47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6E9612-4781-425F-AD99-180D174A4B2F}" v="28" dt="2026-09-01T08:49:43.14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71" autoAdjust="0"/>
  </p:normalViewPr>
  <p:slideViewPr>
    <p:cSldViewPr>
      <p:cViewPr varScale="1">
        <p:scale>
          <a:sx n="78" d="100"/>
          <a:sy n="78" d="100"/>
        </p:scale>
        <p:origin x="85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Priya P" userId="197adcb69f712e58" providerId="LiveId" clId="{18EB696F-0016-4C47-8DFB-73CF83CAA4B3}"/>
    <pc:docChg chg="undo custSel addSld modSld sldOrd">
      <pc:chgData name="Krishna Priya P" userId="197adcb69f712e58" providerId="LiveId" clId="{18EB696F-0016-4C47-8DFB-73CF83CAA4B3}" dt="2026-09-01T08:49:46.406" v="357" actId="20577"/>
      <pc:docMkLst>
        <pc:docMk/>
      </pc:docMkLst>
      <pc:sldChg chg="addSp delSp modSp mod">
        <pc:chgData name="Krishna Priya P" userId="197adcb69f712e58" providerId="LiveId" clId="{18EB696F-0016-4C47-8DFB-73CF83CAA4B3}" dt="2026-09-01T08:49:46.406" v="357" actId="20577"/>
        <pc:sldMkLst>
          <pc:docMk/>
          <pc:sldMk cId="0" sldId="256"/>
        </pc:sldMkLst>
        <pc:spChg chg="mod">
          <ac:chgData name="Krishna Priya P" userId="197adcb69f712e58" providerId="LiveId" clId="{18EB696F-0016-4C47-8DFB-73CF83CAA4B3}" dt="2026-09-01T08:21:18.318" v="272"/>
          <ac:spMkLst>
            <pc:docMk/>
            <pc:sldMk cId="0" sldId="256"/>
            <ac:spMk id="6" creationId="{00000000-0000-0000-0000-000000000000}"/>
          </ac:spMkLst>
        </pc:spChg>
        <pc:spChg chg="mod">
          <ac:chgData name="Krishna Priya P" userId="197adcb69f712e58" providerId="LiveId" clId="{18EB696F-0016-4C47-8DFB-73CF83CAA4B3}" dt="2026-09-01T08:21:26.645" v="274"/>
          <ac:spMkLst>
            <pc:docMk/>
            <pc:sldMk cId="0" sldId="256"/>
            <ac:spMk id="9" creationId="{00000000-0000-0000-0000-000000000000}"/>
          </ac:spMkLst>
        </pc:spChg>
        <pc:spChg chg="mod">
          <ac:chgData name="Krishna Priya P" userId="197adcb69f712e58" providerId="LiveId" clId="{18EB696F-0016-4C47-8DFB-73CF83CAA4B3}" dt="2026-09-01T08:21:32.832" v="275"/>
          <ac:spMkLst>
            <pc:docMk/>
            <pc:sldMk cId="0" sldId="256"/>
            <ac:spMk id="12" creationId="{88B0C26D-AB32-E365-6B6D-E9AA346A26CA}"/>
          </ac:spMkLst>
        </pc:spChg>
        <pc:spChg chg="add mod">
          <ac:chgData name="Krishna Priya P" userId="197adcb69f712e58" providerId="LiveId" clId="{18EB696F-0016-4C47-8DFB-73CF83CAA4B3}" dt="2026-09-01T08:25:27.034" v="291" actId="255"/>
          <ac:spMkLst>
            <pc:docMk/>
            <pc:sldMk cId="0" sldId="256"/>
            <ac:spMk id="15" creationId="{2AD069D1-DC11-EC06-8F87-08AE60E68502}"/>
          </ac:spMkLst>
        </pc:spChg>
        <pc:spChg chg="del mod">
          <ac:chgData name="Krishna Priya P" userId="197adcb69f712e58" providerId="LiveId" clId="{18EB696F-0016-4C47-8DFB-73CF83CAA4B3}" dt="2026-09-01T08:25:11.837" v="289" actId="21"/>
          <ac:spMkLst>
            <pc:docMk/>
            <pc:sldMk cId="0" sldId="256"/>
            <ac:spMk id="27" creationId="{BC7845C9-81BD-DD97-6F85-11B9E546A46A}"/>
          </ac:spMkLst>
        </pc:spChg>
        <pc:spChg chg="mod">
          <ac:chgData name="Krishna Priya P" userId="197adcb69f712e58" providerId="LiveId" clId="{18EB696F-0016-4C47-8DFB-73CF83CAA4B3}" dt="2026-09-01T08:49:46.406" v="357" actId="20577"/>
          <ac:spMkLst>
            <pc:docMk/>
            <pc:sldMk cId="0" sldId="256"/>
            <ac:spMk id="31" creationId="{2C78F05B-E58A-9962-B17B-970196F34BA1}"/>
          </ac:spMkLst>
        </pc:spChg>
        <pc:spChg chg="mod">
          <ac:chgData name="Krishna Priya P" userId="197adcb69f712e58" providerId="LiveId" clId="{18EB696F-0016-4C47-8DFB-73CF83CAA4B3}" dt="2026-09-01T08:25:48.533" v="294" actId="14100"/>
          <ac:spMkLst>
            <pc:docMk/>
            <pc:sldMk cId="0" sldId="256"/>
            <ac:spMk id="33" creationId="{9176F09C-F9E8-0164-D55C-295DFF57C9E6}"/>
          </ac:spMkLst>
        </pc:spChg>
        <pc:grpChg chg="del">
          <ac:chgData name="Krishna Priya P" userId="197adcb69f712e58" providerId="LiveId" clId="{18EB696F-0016-4C47-8DFB-73CF83CAA4B3}" dt="2026-09-01T08:21:15.402" v="271" actId="21"/>
          <ac:grpSpMkLst>
            <pc:docMk/>
            <pc:sldMk cId="0" sldId="256"/>
            <ac:grpSpMk id="2" creationId="{00000000-0000-0000-0000-000000000000}"/>
          </ac:grpSpMkLst>
        </pc:grpChg>
        <pc:grpChg chg="add del mod">
          <ac:chgData name="Krishna Priya P" userId="197adcb69f712e58" providerId="LiveId" clId="{18EB696F-0016-4C47-8DFB-73CF83CAA4B3}" dt="2026-09-01T08:22:46.941" v="282" actId="21"/>
          <ac:grpSpMkLst>
            <pc:docMk/>
            <pc:sldMk cId="0" sldId="256"/>
            <ac:grpSpMk id="5" creationId="{00000000-0000-0000-0000-000000000000}"/>
          </ac:grpSpMkLst>
        </pc:grpChg>
        <pc:grpChg chg="add mod">
          <ac:chgData name="Krishna Priya P" userId="197adcb69f712e58" providerId="LiveId" clId="{18EB696F-0016-4C47-8DFB-73CF83CAA4B3}" dt="2026-09-01T08:21:26.645" v="274"/>
          <ac:grpSpMkLst>
            <pc:docMk/>
            <pc:sldMk cId="0" sldId="256"/>
            <ac:grpSpMk id="8" creationId="{00000000-0000-0000-0000-000000000000}"/>
          </ac:grpSpMkLst>
        </pc:grpChg>
        <pc:grpChg chg="add mod">
          <ac:chgData name="Krishna Priya P" userId="197adcb69f712e58" providerId="LiveId" clId="{18EB696F-0016-4C47-8DFB-73CF83CAA4B3}" dt="2026-09-01T08:21:38.354" v="277" actId="1076"/>
          <ac:grpSpMkLst>
            <pc:docMk/>
            <pc:sldMk cId="0" sldId="256"/>
            <ac:grpSpMk id="11" creationId="{7BF07FE5-197A-5AD8-B444-ECCF5162D605}"/>
          </ac:grpSpMkLst>
        </pc:grpChg>
        <pc:picChg chg="mod">
          <ac:chgData name="Krishna Priya P" userId="197adcb69f712e58" providerId="LiveId" clId="{18EB696F-0016-4C47-8DFB-73CF83CAA4B3}" dt="2026-09-01T08:21:18.318" v="272"/>
          <ac:picMkLst>
            <pc:docMk/>
            <pc:sldMk cId="0" sldId="256"/>
            <ac:picMk id="7" creationId="{00000000-0000-0000-0000-000000000000}"/>
          </ac:picMkLst>
        </pc:picChg>
        <pc:picChg chg="mod">
          <ac:chgData name="Krishna Priya P" userId="197adcb69f712e58" providerId="LiveId" clId="{18EB696F-0016-4C47-8DFB-73CF83CAA4B3}" dt="2026-09-01T08:21:26.645" v="274"/>
          <ac:picMkLst>
            <pc:docMk/>
            <pc:sldMk cId="0" sldId="256"/>
            <ac:picMk id="10" creationId="{00000000-0000-0000-0000-000000000000}"/>
          </ac:picMkLst>
        </pc:picChg>
        <pc:picChg chg="mod">
          <ac:chgData name="Krishna Priya P" userId="197adcb69f712e58" providerId="LiveId" clId="{18EB696F-0016-4C47-8DFB-73CF83CAA4B3}" dt="2026-09-01T08:21:32.832" v="275"/>
          <ac:picMkLst>
            <pc:docMk/>
            <pc:sldMk cId="0" sldId="256"/>
            <ac:picMk id="13" creationId="{B395B9A6-9539-3EBB-9FDD-D279810B360D}"/>
          </ac:picMkLst>
        </pc:picChg>
        <pc:picChg chg="add mod">
          <ac:chgData name="Krishna Priya P" userId="197adcb69f712e58" providerId="LiveId" clId="{18EB696F-0016-4C47-8DFB-73CF83CAA4B3}" dt="2026-09-01T08:24:37.867" v="286" actId="14100"/>
          <ac:picMkLst>
            <pc:docMk/>
            <pc:sldMk cId="0" sldId="256"/>
            <ac:picMk id="14" creationId="{C739F087-F7CE-A289-1D74-60967DF28AD2}"/>
          </ac:picMkLst>
        </pc:picChg>
      </pc:sldChg>
      <pc:sldChg chg="ord">
        <pc:chgData name="Krishna Priya P" userId="197adcb69f712e58" providerId="LiveId" clId="{18EB696F-0016-4C47-8DFB-73CF83CAA4B3}" dt="2026-09-01T08:35:12.880" v="349"/>
        <pc:sldMkLst>
          <pc:docMk/>
          <pc:sldMk cId="0" sldId="272"/>
        </pc:sldMkLst>
      </pc:sldChg>
      <pc:sldChg chg="modSp mod ord">
        <pc:chgData name="Krishna Priya P" userId="197adcb69f712e58" providerId="LiveId" clId="{18EB696F-0016-4C47-8DFB-73CF83CAA4B3}" dt="2026-09-01T08:35:42.395" v="351"/>
        <pc:sldMkLst>
          <pc:docMk/>
          <pc:sldMk cId="4092927550" sldId="281"/>
        </pc:sldMkLst>
        <pc:graphicFrameChg chg="modGraphic">
          <ac:chgData name="Krishna Priya P" userId="197adcb69f712e58" providerId="LiveId" clId="{18EB696F-0016-4C47-8DFB-73CF83CAA4B3}" dt="2026-09-01T08:32:30.681" v="347" actId="20577"/>
          <ac:graphicFrameMkLst>
            <pc:docMk/>
            <pc:sldMk cId="4092927550" sldId="281"/>
            <ac:graphicFrameMk id="6" creationId="{5F6B33FE-178C-2CD9-9F59-F569633B6869}"/>
          </ac:graphicFrameMkLst>
        </pc:graphicFrameChg>
      </pc:sldChg>
      <pc:sldChg chg="modSp mod">
        <pc:chgData name="Krishna Priya P" userId="197adcb69f712e58" providerId="LiveId" clId="{18EB696F-0016-4C47-8DFB-73CF83CAA4B3}" dt="2026-08-24T12:25:50.372" v="1" actId="20577"/>
        <pc:sldMkLst>
          <pc:docMk/>
          <pc:sldMk cId="1411331074" sldId="283"/>
        </pc:sldMkLst>
        <pc:spChg chg="mod">
          <ac:chgData name="Krishna Priya P" userId="197adcb69f712e58" providerId="LiveId" clId="{18EB696F-0016-4C47-8DFB-73CF83CAA4B3}" dt="2026-08-24T12:25:50.372" v="1" actId="20577"/>
          <ac:spMkLst>
            <pc:docMk/>
            <pc:sldMk cId="1411331074" sldId="283"/>
            <ac:spMk id="5" creationId="{B548C4F2-0D3E-DFB7-2DB8-33320D74F26F}"/>
          </ac:spMkLst>
        </pc:spChg>
      </pc:sldChg>
      <pc:sldChg chg="addSp modSp mod modAnim">
        <pc:chgData name="Krishna Priya P" userId="197adcb69f712e58" providerId="LiveId" clId="{18EB696F-0016-4C47-8DFB-73CF83CAA4B3}" dt="2026-09-01T07:53:43.232" v="153" actId="14100"/>
        <pc:sldMkLst>
          <pc:docMk/>
          <pc:sldMk cId="4019346940" sldId="284"/>
        </pc:sldMkLst>
        <pc:picChg chg="add mod">
          <ac:chgData name="Krishna Priya P" userId="197adcb69f712e58" providerId="LiveId" clId="{18EB696F-0016-4C47-8DFB-73CF83CAA4B3}" dt="2026-09-01T07:53:43.232" v="153" actId="14100"/>
          <ac:picMkLst>
            <pc:docMk/>
            <pc:sldMk cId="4019346940" sldId="284"/>
            <ac:picMk id="5" creationId="{AD6E182F-03EE-8D56-2859-83C4015880E8}"/>
          </ac:picMkLst>
        </pc:picChg>
      </pc:sldChg>
      <pc:sldChg chg="modSp mod">
        <pc:chgData name="Krishna Priya P" userId="197adcb69f712e58" providerId="LiveId" clId="{18EB696F-0016-4C47-8DFB-73CF83CAA4B3}" dt="2026-08-24T12:29:04.825" v="12" actId="113"/>
        <pc:sldMkLst>
          <pc:docMk/>
          <pc:sldMk cId="3473605244" sldId="285"/>
        </pc:sldMkLst>
        <pc:graphicFrameChg chg="mod modGraphic">
          <ac:chgData name="Krishna Priya P" userId="197adcb69f712e58" providerId="LiveId" clId="{18EB696F-0016-4C47-8DFB-73CF83CAA4B3}" dt="2026-08-24T12:29:04.825" v="12" actId="113"/>
          <ac:graphicFrameMkLst>
            <pc:docMk/>
            <pc:sldMk cId="3473605244" sldId="285"/>
            <ac:graphicFrameMk id="7" creationId="{6B3365BF-C73C-8109-E2EC-1C166E226FF0}"/>
          </ac:graphicFrameMkLst>
        </pc:graphicFrameChg>
      </pc:sldChg>
      <pc:sldChg chg="addSp modSp mod">
        <pc:chgData name="Krishna Priya P" userId="197adcb69f712e58" providerId="LiveId" clId="{18EB696F-0016-4C47-8DFB-73CF83CAA4B3}" dt="2026-08-24T12:36:38.310" v="61" actId="1076"/>
        <pc:sldMkLst>
          <pc:docMk/>
          <pc:sldMk cId="1491276288" sldId="286"/>
        </pc:sldMkLst>
        <pc:spChg chg="add mod">
          <ac:chgData name="Krishna Priya P" userId="197adcb69f712e58" providerId="LiveId" clId="{18EB696F-0016-4C47-8DFB-73CF83CAA4B3}" dt="2026-08-24T12:30:42.993" v="35" actId="122"/>
          <ac:spMkLst>
            <pc:docMk/>
            <pc:sldMk cId="1491276288" sldId="286"/>
            <ac:spMk id="2" creationId="{EB63C83E-CDB9-D083-41D7-27A0D2FF2454}"/>
          </ac:spMkLst>
        </pc:spChg>
        <pc:spChg chg="add mod">
          <ac:chgData name="Krishna Priya P" userId="197adcb69f712e58" providerId="LiveId" clId="{18EB696F-0016-4C47-8DFB-73CF83CAA4B3}" dt="2026-08-24T12:36:38.310" v="61" actId="1076"/>
          <ac:spMkLst>
            <pc:docMk/>
            <pc:sldMk cId="1491276288" sldId="286"/>
            <ac:spMk id="6" creationId="{2F026886-890E-5501-65A9-D73A00063E5D}"/>
          </ac:spMkLst>
        </pc:spChg>
        <pc:picChg chg="add mod">
          <ac:chgData name="Krishna Priya P" userId="197adcb69f712e58" providerId="LiveId" clId="{18EB696F-0016-4C47-8DFB-73CF83CAA4B3}" dt="2026-08-24T12:36:29.254" v="59" actId="1076"/>
          <ac:picMkLst>
            <pc:docMk/>
            <pc:sldMk cId="1491276288" sldId="286"/>
            <ac:picMk id="7" creationId="{68C1582A-26E0-A24D-C27F-2032D721CF7A}"/>
          </ac:picMkLst>
        </pc:picChg>
      </pc:sldChg>
      <pc:sldChg chg="addSp modSp add mod ord">
        <pc:chgData name="Krishna Priya P" userId="197adcb69f712e58" providerId="LiveId" clId="{18EB696F-0016-4C47-8DFB-73CF83CAA4B3}" dt="2026-08-24T13:22:28.538" v="110" actId="1076"/>
        <pc:sldMkLst>
          <pc:docMk/>
          <pc:sldMk cId="509365413" sldId="287"/>
        </pc:sldMkLst>
        <pc:spChg chg="add mod">
          <ac:chgData name="Krishna Priya P" userId="197adcb69f712e58" providerId="LiveId" clId="{18EB696F-0016-4C47-8DFB-73CF83CAA4B3}" dt="2026-08-24T12:37:57.264" v="88" actId="20577"/>
          <ac:spMkLst>
            <pc:docMk/>
            <pc:sldMk cId="509365413" sldId="287"/>
            <ac:spMk id="2" creationId="{FEAFCF50-3517-C9E2-00CD-3B2E3C3F1A19}"/>
          </ac:spMkLst>
        </pc:spChg>
        <pc:spChg chg="add mod">
          <ac:chgData name="Krishna Priya P" userId="197adcb69f712e58" providerId="LiveId" clId="{18EB696F-0016-4C47-8DFB-73CF83CAA4B3}" dt="2026-08-24T12:39:52.484" v="97" actId="1076"/>
          <ac:spMkLst>
            <pc:docMk/>
            <pc:sldMk cId="509365413" sldId="287"/>
            <ac:spMk id="6" creationId="{51DF9105-41EF-C715-9BC7-E8894E536D21}"/>
          </ac:spMkLst>
        </pc:spChg>
        <pc:picChg chg="add mod">
          <ac:chgData name="Krishna Priya P" userId="197adcb69f712e58" providerId="LiveId" clId="{18EB696F-0016-4C47-8DFB-73CF83CAA4B3}" dt="2026-08-24T13:22:28.538" v="110" actId="1076"/>
          <ac:picMkLst>
            <pc:docMk/>
            <pc:sldMk cId="509365413" sldId="287"/>
            <ac:picMk id="8" creationId="{B18869B6-46DF-184D-5DAA-375D45D5349C}"/>
          </ac:picMkLst>
        </pc:picChg>
      </pc:sldChg>
      <pc:sldChg chg="addSp modSp add mod ord">
        <pc:chgData name="Krishna Priya P" userId="197adcb69f712e58" providerId="LiveId" clId="{18EB696F-0016-4C47-8DFB-73CF83CAA4B3}" dt="2026-08-24T13:26:10.398" v="148" actId="14100"/>
        <pc:sldMkLst>
          <pc:docMk/>
          <pc:sldMk cId="1460251305" sldId="288"/>
        </pc:sldMkLst>
        <pc:spChg chg="add mod">
          <ac:chgData name="Krishna Priya P" userId="197adcb69f712e58" providerId="LiveId" clId="{18EB696F-0016-4C47-8DFB-73CF83CAA4B3}" dt="2026-08-24T13:24:11.922" v="140" actId="1076"/>
          <ac:spMkLst>
            <pc:docMk/>
            <pc:sldMk cId="1460251305" sldId="288"/>
            <ac:spMk id="2" creationId="{AAEF0086-F002-9B22-23AD-30429AD51011}"/>
          </ac:spMkLst>
        </pc:spChg>
        <pc:spChg chg="add mod">
          <ac:chgData name="Krishna Priya P" userId="197adcb69f712e58" providerId="LiveId" clId="{18EB696F-0016-4C47-8DFB-73CF83CAA4B3}" dt="2026-08-24T13:26:10.398" v="148" actId="14100"/>
          <ac:spMkLst>
            <pc:docMk/>
            <pc:sldMk cId="1460251305" sldId="288"/>
            <ac:spMk id="6" creationId="{C58C35F5-ADAA-FC63-2809-9FA25B8210EB}"/>
          </ac:spMkLst>
        </pc:spChg>
      </pc:sldChg>
      <pc:sldChg chg="addSp delSp modSp add mod">
        <pc:chgData name="Krishna Priya P" userId="197adcb69f712e58" providerId="LiveId" clId="{18EB696F-0016-4C47-8DFB-73CF83CAA4B3}" dt="2026-09-01T08:31:13.043" v="316" actId="1076"/>
        <pc:sldMkLst>
          <pc:docMk/>
          <pc:sldMk cId="924144583" sldId="289"/>
        </pc:sldMkLst>
        <pc:spChg chg="mod">
          <ac:chgData name="Krishna Priya P" userId="197adcb69f712e58" providerId="LiveId" clId="{18EB696F-0016-4C47-8DFB-73CF83CAA4B3}" dt="2026-09-01T07:54:01.969" v="158" actId="20577"/>
          <ac:spMkLst>
            <pc:docMk/>
            <pc:sldMk cId="924144583" sldId="289"/>
            <ac:spMk id="5" creationId="{CBEA4960-A4B5-3686-6472-19F8E11CE819}"/>
          </ac:spMkLst>
        </pc:spChg>
        <pc:spChg chg="add mod">
          <ac:chgData name="Krishna Priya P" userId="197adcb69f712e58" providerId="LiveId" clId="{18EB696F-0016-4C47-8DFB-73CF83CAA4B3}" dt="2026-09-01T08:31:04.014" v="314" actId="1076"/>
          <ac:spMkLst>
            <pc:docMk/>
            <pc:sldMk cId="924144583" sldId="289"/>
            <ac:spMk id="6" creationId="{DB6572FB-9725-D6D0-7E2A-019C5DA012FC}"/>
          </ac:spMkLst>
        </pc:spChg>
        <pc:spChg chg="mod">
          <ac:chgData name="Krishna Priya P" userId="197adcb69f712e58" providerId="LiveId" clId="{18EB696F-0016-4C47-8DFB-73CF83CAA4B3}" dt="2026-09-01T07:55:00.955" v="203" actId="122"/>
          <ac:spMkLst>
            <pc:docMk/>
            <pc:sldMk cId="924144583" sldId="289"/>
            <ac:spMk id="8" creationId="{E0C5F517-BC70-5CBB-08C6-7999473D87B0}"/>
          </ac:spMkLst>
        </pc:spChg>
        <pc:spChg chg="del mod">
          <ac:chgData name="Krishna Priya P" userId="197adcb69f712e58" providerId="LiveId" clId="{18EB696F-0016-4C47-8DFB-73CF83CAA4B3}" dt="2026-09-01T07:55:11.863" v="208"/>
          <ac:spMkLst>
            <pc:docMk/>
            <pc:sldMk cId="924144583" sldId="289"/>
            <ac:spMk id="10" creationId="{00C26145-6CF0-1CC3-8D12-6C2834B86929}"/>
          </ac:spMkLst>
        </pc:spChg>
        <pc:spChg chg="del mod">
          <ac:chgData name="Krishna Priya P" userId="197adcb69f712e58" providerId="LiveId" clId="{18EB696F-0016-4C47-8DFB-73CF83CAA4B3}" dt="2026-09-01T07:55:11.863" v="210"/>
          <ac:spMkLst>
            <pc:docMk/>
            <pc:sldMk cId="924144583" sldId="289"/>
            <ac:spMk id="13" creationId="{D9D9C60E-1780-ED7C-CCD6-8CD8B8DC78A5}"/>
          </ac:spMkLst>
        </pc:spChg>
        <pc:picChg chg="add mod">
          <ac:chgData name="Krishna Priya P" userId="197adcb69f712e58" providerId="LiveId" clId="{18EB696F-0016-4C47-8DFB-73CF83CAA4B3}" dt="2026-09-01T08:31:13.043" v="316" actId="1076"/>
          <ac:picMkLst>
            <pc:docMk/>
            <pc:sldMk cId="924144583" sldId="289"/>
            <ac:picMk id="9" creationId="{EAD52C7F-3397-A274-80B5-27F336F7AC1E}"/>
          </ac:picMkLst>
        </pc:picChg>
        <pc:picChg chg="del">
          <ac:chgData name="Krishna Priya P" userId="197adcb69f712e58" providerId="LiveId" clId="{18EB696F-0016-4C47-8DFB-73CF83CAA4B3}" dt="2026-09-01T07:55:11.847" v="206" actId="21"/>
          <ac:picMkLst>
            <pc:docMk/>
            <pc:sldMk cId="924144583" sldId="289"/>
            <ac:picMk id="17" creationId="{44D90D42-9C6B-683B-FD2D-84DF143AA58C}"/>
          </ac:picMkLst>
        </pc:picChg>
      </pc:sldChg>
      <pc:sldChg chg="add ord">
        <pc:chgData name="Krishna Priya P" userId="197adcb69f712e58" providerId="LiveId" clId="{18EB696F-0016-4C47-8DFB-73CF83CAA4B3}" dt="2026-09-01T08:49:06.105" v="354"/>
        <pc:sldMkLst>
          <pc:docMk/>
          <pc:sldMk cId="0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76111-B84E-4323-A2ED-BF7944E2DD5F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E42A5E-741F-466A-93A8-C9543A9A83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72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42A5E-741F-466A-93A8-C9543A9A83A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766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85A6C-F374-03E7-B03D-EA8B1E9AE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6D19F-49A2-6ACB-C290-4AC3F3051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5B8E91-51D4-2264-657C-FE9CBD109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CDD98-040F-45CD-FA5E-1FD990AB3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144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FD46E-20A0-2E95-EC37-03AC3AB2F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7D610-7E4B-983B-B2D1-7C94521EE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9BE4A-4B41-E69E-CEF8-A36357FD1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B6CC8-7230-B97D-1DC5-D859C5AE5A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13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5B509-4227-B13B-E10D-9B117691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4A31B-8A19-9013-F110-7D0B1E0DE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E8A76-8167-8CB5-DCD4-20FDDCFB4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A47B2-CB52-33BB-1C61-E1536F2EE2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39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A219-B5B0-C3B4-033D-EE44A292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77E79-6FDA-F998-DBF0-C0B13803E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596F6-37C4-9A45-BD83-4DCFF4A50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A4275-6574-3ACA-97AA-485078ECA5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6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9749-5D31-31EC-8853-4CEBB9D1D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89938-528F-706B-52ED-490CB272B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AD1233-AFBF-FCE9-6193-7D6366635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90050-2743-3796-6BEB-04B2928E55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10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F996-915D-9FF0-8D31-037EFACF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39B891-972E-058B-CE5F-CDCAEF1DA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5BEC46-A4E3-3793-5DB1-65E7DFA1B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BC870-BF39-A623-AF59-3BCEB49C2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37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BDC61-6B6A-0C9B-BA49-714EBEF47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83733-0A39-9EF9-B868-9D79CCE4A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4FE06-4D23-C13B-1887-5B1426015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DB1D7-A9B3-B2DB-48C3-8D41B188DA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88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6048F-62AD-DCFA-4CD8-92E6FCB99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FE3F1-C599-51E4-3A43-28E244E68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56ACD1-DA42-B952-A6E7-69343B8EC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8F979-8DB0-F63C-1300-9D7BFA7860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0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6F02-1279-A2C4-D7CB-35EFA222D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ABCB4-042D-8868-1C2D-FE53AEA24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EEC51-8644-542A-F218-7513C50B9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51F87-0A9A-0938-7D1E-58BFD976C4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56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80234" y="286152"/>
            <a:ext cx="11688445" cy="619442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5" y="0"/>
                </a:lnTo>
                <a:lnTo>
                  <a:pt x="11687985" y="6194254"/>
                </a:lnTo>
                <a:lnTo>
                  <a:pt x="0" y="6194254"/>
                </a:lnTo>
                <a:lnTo>
                  <a:pt x="0" y="0"/>
                </a:lnTo>
                <a:close/>
              </a:path>
            </a:pathLst>
          </a:custGeom>
          <a:ln w="380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1" y="1061343"/>
            <a:ext cx="10210798" cy="537159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3788"/>
            <a:ext cx="284480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06794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80234" y="286152"/>
            <a:ext cx="11688445" cy="619442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5" y="0"/>
                </a:lnTo>
                <a:lnTo>
                  <a:pt x="11687985" y="6194254"/>
                </a:lnTo>
                <a:lnTo>
                  <a:pt x="0" y="6194254"/>
                </a:lnTo>
                <a:lnTo>
                  <a:pt x="0" y="0"/>
                </a:lnTo>
                <a:close/>
              </a:path>
            </a:pathLst>
          </a:custGeom>
          <a:ln w="380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5400" y="814975"/>
            <a:ext cx="960120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055" y="1651380"/>
            <a:ext cx="6788150" cy="276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openxmlformats.org/officeDocument/2006/relationships/image" Target="../media/image8.pn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e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jpe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BC2948E-1114-9CC3-5A03-9851FDF3C75E}"/>
              </a:ext>
            </a:extLst>
          </p:cNvPr>
          <p:cNvSpPr txBox="1"/>
          <p:nvPr/>
        </p:nvSpPr>
        <p:spPr>
          <a:xfrm>
            <a:off x="2377440" y="1722286"/>
            <a:ext cx="7581900" cy="4953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0" name="object 11">
            <a:extLst>
              <a:ext uri="{FF2B5EF4-FFF2-40B4-BE49-F238E27FC236}">
                <a16:creationId xmlns:a16="http://schemas.microsoft.com/office/drawing/2014/main" id="{1E8BB149-C1B1-0D99-E9D3-66A454D80181}"/>
              </a:ext>
            </a:extLst>
          </p:cNvPr>
          <p:cNvSpPr txBox="1">
            <a:spLocks/>
          </p:cNvSpPr>
          <p:nvPr/>
        </p:nvSpPr>
        <p:spPr>
          <a:xfrm>
            <a:off x="2514600" y="1739905"/>
            <a:ext cx="8008329" cy="751488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2400" spc="-10" dirty="0"/>
              <a:t>CAPSTONE PRESENTATION</a:t>
            </a:r>
            <a:br>
              <a:rPr lang="en-US" sz="2400" spc="-10" dirty="0"/>
            </a:br>
            <a:endParaRPr lang="en-US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487190-C7CA-5E34-9EC1-76AD2909FFBD}"/>
              </a:ext>
            </a:extLst>
          </p:cNvPr>
          <p:cNvSpPr txBox="1"/>
          <p:nvPr/>
        </p:nvSpPr>
        <p:spPr>
          <a:xfrm>
            <a:off x="2598129" y="2351447"/>
            <a:ext cx="79248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CSA0712: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  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78F05B-E58A-9962-B17B-970196F34BA1}"/>
              </a:ext>
            </a:extLst>
          </p:cNvPr>
          <p:cNvSpPr txBox="1"/>
          <p:nvPr/>
        </p:nvSpPr>
        <p:spPr>
          <a:xfrm>
            <a:off x="381000" y="4674673"/>
            <a:ext cx="3478840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spc="-10" dirty="0">
                <a:latin typeface="Times New Roman"/>
                <a:cs typeface="Times New Roman"/>
              </a:rPr>
              <a:t>GUIDED </a:t>
            </a:r>
            <a:r>
              <a:rPr lang="en-US" b="1" spc="-10" dirty="0">
                <a:latin typeface="Times New Roman"/>
                <a:cs typeface="Times New Roman"/>
              </a:rPr>
              <a:t>BY</a:t>
            </a:r>
          </a:p>
          <a:p>
            <a:r>
              <a:rPr lang="en-US" sz="18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Dr.S.Salini</a:t>
            </a: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spc="-10" dirty="0">
              <a:latin typeface="Times New Roman"/>
              <a:cs typeface="Times New Roman"/>
            </a:endParaRPr>
          </a:p>
        </p:txBody>
      </p:sp>
      <p:sp>
        <p:nvSpPr>
          <p:cNvPr id="33" name="object 6">
            <a:extLst>
              <a:ext uri="{FF2B5EF4-FFF2-40B4-BE49-F238E27FC236}">
                <a16:creationId xmlns:a16="http://schemas.microsoft.com/office/drawing/2014/main" id="{9176F09C-F9E8-0164-D55C-295DFF57C9E6}"/>
              </a:ext>
            </a:extLst>
          </p:cNvPr>
          <p:cNvSpPr txBox="1"/>
          <p:nvPr/>
        </p:nvSpPr>
        <p:spPr>
          <a:xfrm>
            <a:off x="7620000" y="4674673"/>
            <a:ext cx="4292600" cy="14491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85090" marR="78740" indent="-6350" algn="l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PRESENTED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</a:t>
            </a:r>
            <a:endParaRPr lang="en-IN" sz="1800" b="1" spc="-25" dirty="0">
              <a:latin typeface="Times New Roman"/>
              <a:cs typeface="Times New Roman"/>
            </a:endParaRPr>
          </a:p>
          <a:p>
            <a:pPr marL="85090" marR="78740" indent="-6350" algn="l">
              <a:lnSpc>
                <a:spcPct val="100000"/>
              </a:lnSpc>
              <a:spcBef>
                <a:spcPts val="100"/>
              </a:spcBef>
            </a:pPr>
            <a:r>
              <a:rPr lang="en-IN" b="1" spc="-25" dirty="0">
                <a:latin typeface="Times New Roman"/>
                <a:cs typeface="Times New Roman"/>
              </a:rPr>
              <a:t>P.KRISHNAPRIYA(192511279)</a:t>
            </a:r>
          </a:p>
          <a:p>
            <a:pPr marL="85090" marR="78740" indent="-6350" algn="l">
              <a:lnSpc>
                <a:spcPct val="100000"/>
              </a:lnSpc>
              <a:spcBef>
                <a:spcPts val="100"/>
              </a:spcBef>
            </a:pPr>
            <a:r>
              <a:rPr lang="en-IN" b="1" spc="-25" dirty="0">
                <a:latin typeface="Times New Roman"/>
                <a:cs typeface="Times New Roman"/>
              </a:rPr>
              <a:t>C.SRAVATHI(192525463)</a:t>
            </a:r>
          </a:p>
          <a:p>
            <a:pPr marL="85090" marR="78740" indent="-6350" algn="l">
              <a:lnSpc>
                <a:spcPct val="100000"/>
              </a:lnSpc>
              <a:spcBef>
                <a:spcPts val="100"/>
              </a:spcBef>
            </a:pPr>
            <a:r>
              <a:rPr lang="en-IN" b="1" spc="-25" dirty="0">
                <a:latin typeface="Times New Roman"/>
                <a:cs typeface="Times New Roman"/>
              </a:rPr>
              <a:t>A.G.KESHIKA LAKSHMI(192521056)</a:t>
            </a:r>
          </a:p>
          <a:p>
            <a:pPr marL="85090" marR="78740" indent="-6350" algn="l">
              <a:lnSpc>
                <a:spcPct val="100000"/>
              </a:lnSpc>
              <a:spcBef>
                <a:spcPts val="100"/>
              </a:spcBef>
            </a:pPr>
            <a:r>
              <a:rPr lang="en-IN" b="1" spc="-25" dirty="0">
                <a:latin typeface="Times New Roman"/>
                <a:cs typeface="Times New Roman"/>
              </a:rPr>
              <a:t>DEPT:CSE&amp;AIML&amp;IT</a:t>
            </a:r>
          </a:p>
        </p:txBody>
      </p:sp>
      <p:pic>
        <p:nvPicPr>
          <p:cNvPr id="14" name="Picture 13" descr="Saveetha Institute of Medical and Technical Sciences Engineering Fests,  Symposiums in Chennai from August 2026 Technical, Cultural, Management,  Sports, Conferences, Seminars">
            <a:extLst>
              <a:ext uri="{FF2B5EF4-FFF2-40B4-BE49-F238E27FC236}">
                <a16:creationId xmlns:a16="http://schemas.microsoft.com/office/drawing/2014/main" id="{C739F087-F7CE-A289-1D74-60967DF28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01500"/>
            <a:ext cx="11760200" cy="9814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AD069D1-DC11-EC06-8F87-08AE60E68502}"/>
              </a:ext>
            </a:extLst>
          </p:cNvPr>
          <p:cNvSpPr txBox="1"/>
          <p:nvPr/>
        </p:nvSpPr>
        <p:spPr>
          <a:xfrm>
            <a:off x="910590" y="3102935"/>
            <a:ext cx="10515600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DEVELOPING THE SECURE INTRUSION DETECTION SYSTEM  DOOR  LOCK  SYSTEM  USING  RFID  OVER  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5170" y="595503"/>
            <a:ext cx="384683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INTRODUCTION</a:t>
            </a:r>
            <a:endParaRPr spc="-10" dirty="0"/>
          </a:p>
        </p:txBody>
      </p:sp>
      <p:sp>
        <p:nvSpPr>
          <p:cNvPr id="8" name="AutoShape 3" descr="Image of ">
            <a:extLst>
              <a:ext uri="{FF2B5EF4-FFF2-40B4-BE49-F238E27FC236}">
                <a16:creationId xmlns:a16="http://schemas.microsoft.com/office/drawing/2014/main" id="{2D002411-CFF1-5DAC-BE3E-624B29C59B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 descr="to Excel&#10;&#10;AI-generated content may be incorrect.">
            <a:extLst>
              <a:ext uri="{FF2B5EF4-FFF2-40B4-BE49-F238E27FC236}">
                <a16:creationId xmlns:a16="http://schemas.microsoft.com/office/drawing/2014/main" id="{06D3FC02-D3BA-6077-2C95-4336C71C6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94394"/>
            <a:ext cx="1219200" cy="928578"/>
          </a:xfrm>
          <a:prstGeom prst="rect">
            <a:avLst/>
          </a:prstGeom>
        </p:spPr>
      </p:pic>
      <p:pic>
        <p:nvPicPr>
          <p:cNvPr id="4" name="Picture 3" descr="The image depicts the emblem of the Harvard Medical School, featuring a stylized stethoscope and a book, set against a circular motif, with the year 2012 noted at the bottom.&#10;&#10;AI-generated content may be incorrect.">
            <a:extLst>
              <a:ext uri="{FF2B5EF4-FFF2-40B4-BE49-F238E27FC236}">
                <a16:creationId xmlns:a16="http://schemas.microsoft.com/office/drawing/2014/main" id="{30E9AE94-FD81-42E7-860D-DF940C62E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2018" y="308147"/>
            <a:ext cx="1305182" cy="9285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B4C3FC-CE3E-9EBE-A9B3-F0B6E287F0FD}"/>
              </a:ext>
            </a:extLst>
          </p:cNvPr>
          <p:cNvSpPr txBox="1"/>
          <p:nvPr/>
        </p:nvSpPr>
        <p:spPr>
          <a:xfrm>
            <a:off x="533400" y="1752600"/>
            <a:ext cx="545784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(Radio Frequency Identification) is used to provide secure and contactless access using authorized RFID cards or tags.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an RFID door lock with an intrusion detection mechanism to prevent unauthorized access.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connected over a network, allowing real-time monitoring and remote management of the door lock.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records every access attempt and sends alerts when an invalid RFID card or intrusion is detected.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improves security, reliability, and efficiency, making it suitable for homes, offices, laboratories, and other restricted areas.</a:t>
            </a:r>
          </a:p>
        </p:txBody>
      </p:sp>
      <p:pic>
        <p:nvPicPr>
          <p:cNvPr id="10" name="Picture 9" descr="RFID Based Door Lock Security System using Arduino">
            <a:extLst>
              <a:ext uri="{FF2B5EF4-FFF2-40B4-BE49-F238E27FC236}">
                <a16:creationId xmlns:a16="http://schemas.microsoft.com/office/drawing/2014/main" id="{EB9B086D-33F4-486C-EB6B-DBC78A40C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773" y="2015628"/>
            <a:ext cx="5238750" cy="31315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3115" y="558544"/>
            <a:ext cx="324993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</a:t>
            </a:r>
            <a:endParaRPr dirty="0"/>
          </a:p>
        </p:txBody>
      </p:sp>
      <p:sp>
        <p:nvSpPr>
          <p:cNvPr id="5" name="AutoShape 2" descr="Image of ">
            <a:extLst>
              <a:ext uri="{FF2B5EF4-FFF2-40B4-BE49-F238E27FC236}">
                <a16:creationId xmlns:a16="http://schemas.microsoft.com/office/drawing/2014/main" id="{49C71971-764E-2965-A353-2A11D5F656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 descr="to Excel&#10;&#10;AI-generated content may be incorrect.">
            <a:extLst>
              <a:ext uri="{FF2B5EF4-FFF2-40B4-BE49-F238E27FC236}">
                <a16:creationId xmlns:a16="http://schemas.microsoft.com/office/drawing/2014/main" id="{62AF7762-0B97-D6C9-006E-B51FC13C7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64067"/>
            <a:ext cx="1219200" cy="855133"/>
          </a:xfrm>
          <a:prstGeom prst="rect">
            <a:avLst/>
          </a:prstGeom>
        </p:spPr>
      </p:pic>
      <p:pic>
        <p:nvPicPr>
          <p:cNvPr id="7" name="Picture 6" descr="The image depicts the emblem of the Harvard Medical School, featuring a stylized stethoscope and a book, set against a circular motif, with the year 2012 noted at the bottom.&#10;&#10;AI-generated content may be incorrect.">
            <a:extLst>
              <a:ext uri="{FF2B5EF4-FFF2-40B4-BE49-F238E27FC236}">
                <a16:creationId xmlns:a16="http://schemas.microsoft.com/office/drawing/2014/main" id="{761A6807-F026-8421-E213-1F0FC95BE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2018" y="308147"/>
            <a:ext cx="1305182" cy="92857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771C47-9AEA-800B-D7F8-59C474A0DFCE}"/>
              </a:ext>
            </a:extLst>
          </p:cNvPr>
          <p:cNvSpPr/>
          <p:nvPr/>
        </p:nvSpPr>
        <p:spPr>
          <a:xfrm>
            <a:off x="795209" y="1885959"/>
            <a:ext cx="10439400" cy="56682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secure RFID-based door lock system that allows access only to authorized users.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3C752A-14C8-F658-BBED-910BB36636CC}"/>
              </a:ext>
            </a:extLst>
          </p:cNvPr>
          <p:cNvSpPr/>
          <p:nvPr/>
        </p:nvSpPr>
        <p:spPr>
          <a:xfrm>
            <a:off x="795209" y="3067652"/>
            <a:ext cx="10439400" cy="56682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prevent unauthorized access by integrating an intrusion detection mechanism with the door lock.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F3573F-D7FB-2D52-9139-4163A50A8557}"/>
              </a:ext>
            </a:extLst>
          </p:cNvPr>
          <p:cNvSpPr/>
          <p:nvPr/>
        </p:nvSpPr>
        <p:spPr>
          <a:xfrm>
            <a:off x="795209" y="4343400"/>
            <a:ext cx="10439400" cy="56682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enable network-based monitoring and control for real-time alerts, access logging, and remote management.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2400" y="495300"/>
            <a:ext cx="4406265" cy="553720"/>
          </a:xfrm>
        </p:spPr>
        <p:txBody>
          <a:bodyPr wrap="square"/>
          <a:lstStyle/>
          <a:p>
            <a:r>
              <a:rPr lang="en-US" altLang="en-US"/>
              <a:t>Literature Review</a:t>
            </a:r>
          </a:p>
        </p:txBody>
      </p:sp>
      <p:pic>
        <p:nvPicPr>
          <p:cNvPr id="5" name="Picture 4" descr="to Excel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64067"/>
            <a:ext cx="1219200" cy="855133"/>
          </a:xfrm>
          <a:prstGeom prst="rect">
            <a:avLst/>
          </a:prstGeom>
        </p:spPr>
      </p:pic>
      <p:pic>
        <p:nvPicPr>
          <p:cNvPr id="8" name="Picture 7" descr="The image depicts the emblem of the Harvard Medical School, featuring a stylized stethoscope and a book, set against a circular motif, with the year 2012 noted at the bottom.&#10;&#10;AI-generated content may be incorrect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2018" y="308147"/>
            <a:ext cx="1305182" cy="928578"/>
          </a:xfrm>
          <a:prstGeom prst="rect">
            <a:avLst/>
          </a:prstGeom>
        </p:spPr>
      </p:pic>
      <p:graphicFrame>
        <p:nvGraphicFramePr>
          <p:cNvPr id="9" name="Table 8"/>
          <p:cNvGraphicFramePr/>
          <p:nvPr>
            <p:custDataLst>
              <p:tags r:id="rId1"/>
            </p:custDataLst>
          </p:nvPr>
        </p:nvGraphicFramePr>
        <p:xfrm>
          <a:off x="615315" y="1279525"/>
          <a:ext cx="11098530" cy="5026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8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3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5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1185"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S.No.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Author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Work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Problem Statement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Solution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8075"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Batra &amp; A. Pattnaik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RFID Smart Card Door Lock (2021)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door locks may not provide secure and convenient access control.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an RFID smart card-based door lock for secure and contactless authentication.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Shubham Soni, Rajni Soni &amp; Akhilesh A. Waoo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RFID-Based Digital Door Locking System (2021)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locking methods can have limitations in controlling access to restricted areas.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an RFID-based digital door-locking system that allows access to authorized users.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9345"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Nasution, Herwin &amp; Andesa K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RFID and Voice Recognition Based Dual Security System (2024)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single authentication method may not provide sufficient security for sensitive areas.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RFID and voice recognition to provide dual-layer authentication.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Yudi Wijanarko, Niksen Alfarizal &amp; Muhammad Regi Pratama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RFID RC522 and IoT-Based Automatic Door Security System (2025)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RFID systems may have limited monitoring and connectivity capabilities.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RFID RC522 with IoT for automatic door security and monitoring.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525114"/>
            <a:ext cx="9601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7993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PROBLEM STATEMENT</a:t>
            </a:r>
            <a:endParaRPr spc="-10" dirty="0"/>
          </a:p>
        </p:txBody>
      </p:sp>
      <p:sp>
        <p:nvSpPr>
          <p:cNvPr id="6" name="AutoShape 2" descr="Image of ">
            <a:extLst>
              <a:ext uri="{FF2B5EF4-FFF2-40B4-BE49-F238E27FC236}">
                <a16:creationId xmlns:a16="http://schemas.microsoft.com/office/drawing/2014/main" id="{6D1E28A8-CC2F-F995-3648-9F7C5FF360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 descr="to Excel&#10;&#10;AI-generated content may be incorrect.">
            <a:extLst>
              <a:ext uri="{FF2B5EF4-FFF2-40B4-BE49-F238E27FC236}">
                <a16:creationId xmlns:a16="http://schemas.microsoft.com/office/drawing/2014/main" id="{B954F012-5D60-B85E-34E9-BD4CBF124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64067"/>
            <a:ext cx="1219200" cy="855133"/>
          </a:xfrm>
          <a:prstGeom prst="rect">
            <a:avLst/>
          </a:prstGeom>
        </p:spPr>
      </p:pic>
      <p:pic>
        <p:nvPicPr>
          <p:cNvPr id="8" name="Picture 7" descr="The image depicts the emblem of the Harvard Medical School, featuring a stylized stethoscope and a book, set against a circular motif, with the year 2012 noted at the bottom.&#10;&#10;AI-generated content may be incorrect.">
            <a:extLst>
              <a:ext uri="{FF2B5EF4-FFF2-40B4-BE49-F238E27FC236}">
                <a16:creationId xmlns:a16="http://schemas.microsoft.com/office/drawing/2014/main" id="{F0223A8A-EC77-980A-A96F-4B45E1EC9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2018" y="308147"/>
            <a:ext cx="1305182" cy="9285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AC61CB-DB90-9471-3C98-04CC22E953B9}"/>
              </a:ext>
            </a:extLst>
          </p:cNvPr>
          <p:cNvSpPr txBox="1"/>
          <p:nvPr/>
        </p:nvSpPr>
        <p:spPr>
          <a:xfrm>
            <a:off x="685800" y="1524000"/>
            <a:ext cx="6705600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door lock systems are less secure and can be opened using duplicated or stolen keys.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do not provide real-time monitoring or remote access control.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 attempts are not detected immediately, increasing security risks.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 authenticates users using RFID and detects intrusions.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network-based RFID door lock system can improve security by providing access control, intrusion detection, and instant alerts.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Warning or problem icon related to a system, process, or machine relate to the function or operation 67443400 Vector Art at Vecteezy">
            <a:extLst>
              <a:ext uri="{FF2B5EF4-FFF2-40B4-BE49-F238E27FC236}">
                <a16:creationId xmlns:a16="http://schemas.microsoft.com/office/drawing/2014/main" id="{30BA0649-D2E2-C53E-9355-59F76F0D5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915677"/>
            <a:ext cx="3195104" cy="30266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25240" y="448072"/>
            <a:ext cx="635496" cy="166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1292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747559" y="521229"/>
            <a:ext cx="4441296" cy="4175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2875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12" name="Text 9"/>
          <p:cNvSpPr/>
          <p:nvPr/>
        </p:nvSpPr>
        <p:spPr>
          <a:xfrm>
            <a:off x="8038386" y="4726609"/>
            <a:ext cx="2276374" cy="2845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2208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8" descr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411" y="4104"/>
            <a:ext cx="1174465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" name="Picture 12" descr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" y="4105"/>
            <a:ext cx="1079501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B176AC-9E7B-20EB-F44F-4AD662D605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024" r="9639" b="6194"/>
          <a:stretch>
            <a:fillRect/>
          </a:stretch>
        </p:blipFill>
        <p:spPr>
          <a:xfrm>
            <a:off x="3124200" y="1165626"/>
            <a:ext cx="5334000" cy="511757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4899" y="1762323"/>
            <a:ext cx="818654" cy="2418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1875"/>
              </a:lnSpc>
            </a:pPr>
            <a:endParaRPr lang="en-US" sz="1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20319" y="570117"/>
            <a:ext cx="4793192" cy="4725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3708"/>
              </a:lnSpc>
            </a:pPr>
            <a:r>
              <a:rPr lang="en-US" sz="3600" b="1" dirty="0">
                <a:solidFill>
                  <a:srgbClr val="272D45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PROPOSED SYSTEM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2104" y="3106837"/>
            <a:ext cx="236269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2292"/>
              </a:lnSpc>
            </a:pPr>
            <a:endParaRPr lang="en-US" sz="1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2" descr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" y="4105"/>
            <a:ext cx="1079501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9411" y="4104"/>
            <a:ext cx="1174465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" name="Text Box 19"/>
          <p:cNvSpPr txBox="1"/>
          <p:nvPr/>
        </p:nvSpPr>
        <p:spPr>
          <a:xfrm>
            <a:off x="951971" y="1601259"/>
            <a:ext cx="10529888" cy="433757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099" tIns="38099" rIns="38099" bIns="38099" numCol="1" spcCol="38100" rtlCol="0" anchor="t" forceAA="0">
            <a:noAutofit/>
          </a:bodyPr>
          <a:lstStyle/>
          <a:p>
            <a:pPr marL="238115" indent="-238115" algn="l" defTabSz="380985" rtl="0" hangingPunct="0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Calibri" panose="020F0502020204030204"/>
              </a:rPr>
              <a:t>The proposed system uses RFID (Radio Frequency Identification) technology to provide secure and contactless access to authorized users.</a:t>
            </a:r>
          </a:p>
          <a:p>
            <a:pPr marL="238115" indent="-238115" algn="l" defTabSz="380985" rtl="0" hangingPunct="0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Calibri" panose="020F0502020204030204"/>
              </a:rPr>
              <a:t>Each authorized user is assigned a unique RFID card, and only registered cards can unlock the door.</a:t>
            </a:r>
          </a:p>
          <a:p>
            <a:pPr marL="238115" indent="-238115" algn="l" defTabSz="380985" rtl="0" hangingPunct="0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Calibri" panose="020F0502020204030204"/>
              </a:rPr>
              <a:t>The system verifies the RFID card by comparing it with the stored database before granting access.</a:t>
            </a:r>
          </a:p>
          <a:p>
            <a:pPr marL="238115" indent="-238115" algn="l" defTabSz="380985" rtl="0" hangingPunct="0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Calibri" panose="020F0502020204030204"/>
              </a:rPr>
              <a:t>If an unauthorized RFID card is detected, the system immediately denies access and activates the intrusion detection mechanism.</a:t>
            </a:r>
          </a:p>
          <a:p>
            <a:pPr marL="238115" indent="-238115" algn="l" defTabSz="380985" rtl="0" hangingPunct="0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Calibri" panose="020F0502020204030204"/>
              </a:rPr>
              <a:t>Real-time alerts are sent to the administrator over the network to notify them of unauthorized access attempts.</a:t>
            </a:r>
          </a:p>
          <a:p>
            <a:pPr marL="238115" indent="-238115" algn="l" defTabSz="380985" rtl="0" hangingPunct="0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Calibri" panose="020F0502020204030204"/>
              </a:rPr>
              <a:t>The system maintains a digital log of all entry and exit activities, including date, time, and user details, for monitoring and future analysis.</a:t>
            </a:r>
          </a:p>
          <a:p>
            <a:pPr marL="238115" indent="-238115" algn="l" defTabSz="380985" rtl="0" hangingPunct="0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Calibri" panose="020F0502020204030204"/>
              </a:rPr>
              <a:t>By integrating RFID authentication, automated door locking, network communication, and intrusion detection, the proposed system provides a secure, reliable, and cost-effective solution for homes, offices, laboratories, and other restricted areas.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4899" y="2234307"/>
            <a:ext cx="818654" cy="2418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1875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742334" y="540431"/>
            <a:ext cx="3780433" cy="4491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r>
              <a:rPr lang="en-US" sz="2667" dirty="0">
                <a:solidFill>
                  <a:srgbClr val="272D45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COMPONENTS USED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708"/>
              </a:lnSpc>
            </a:pP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56532" y="3364408"/>
            <a:ext cx="1744960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2292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61492" y="3829795"/>
            <a:ext cx="5266430" cy="907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39" indent="-285739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Tag/Card : Contains a unique identification number (UID).</a:t>
            </a:r>
          </a:p>
          <a:p>
            <a:pPr marL="285739" indent="-285739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Reader (RC522 or similar) : Reads the UID from the RFID tag and sends it to Arduino.</a:t>
            </a:r>
          </a:p>
          <a:p>
            <a:pPr marL="285739" indent="-285739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232771" y="3364408"/>
            <a:ext cx="1745059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2292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887491" y="3829795"/>
            <a:ext cx="1745059" cy="907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375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009111" y="3364408"/>
            <a:ext cx="1745059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2292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7009110" y="3829795"/>
            <a:ext cx="4725690" cy="907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39" indent="-285739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Board : Acts as the brain of the system — processes RFID data, checks authorization, and controls outputs</a:t>
            </a:r>
          </a:p>
        </p:txBody>
      </p:sp>
      <p:sp>
        <p:nvSpPr>
          <p:cNvPr id="15" name="Text 9"/>
          <p:cNvSpPr/>
          <p:nvPr/>
        </p:nvSpPr>
        <p:spPr>
          <a:xfrm>
            <a:off x="9785450" y="3364408"/>
            <a:ext cx="1745059" cy="590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292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9785450" y="4068366"/>
            <a:ext cx="1745059" cy="6048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375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blue circuit board with a key chain and a white card&#10;&#10;AI-generated content may be incorrect."/>
          <p:cNvPicPr>
            <a:picLocks noChangeAspect="1"/>
          </p:cNvPicPr>
          <p:nvPr/>
        </p:nvPicPr>
        <p:blipFill>
          <a:blip r:embed="rId3"/>
          <a:srcRect l="8669" t="13181" r="7152" b="2746"/>
          <a:stretch>
            <a:fillRect/>
          </a:stretch>
        </p:blipFill>
        <p:spPr>
          <a:xfrm>
            <a:off x="1456532" y="1600200"/>
            <a:ext cx="3434546" cy="2133600"/>
          </a:xfrm>
          <a:prstGeom prst="rect">
            <a:avLst/>
          </a:prstGeom>
        </p:spPr>
      </p:pic>
      <p:pic>
        <p:nvPicPr>
          <p:cNvPr id="18" name="Picture 17" descr="A blue electronic board with wires and a white background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7201" y="1062747"/>
            <a:ext cx="3434546" cy="2585013"/>
          </a:xfrm>
          <a:prstGeom prst="rect">
            <a:avLst/>
          </a:prstGeom>
        </p:spPr>
      </p:pic>
      <p:pic>
        <p:nvPicPr>
          <p:cNvPr id="19" name="Picture 12" descr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2" y="4105"/>
            <a:ext cx="1079501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" name="Picture 8" descr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9411" y="4104"/>
            <a:ext cx="1174465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0BC2F-10AE-B877-E041-F49B7357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BC3F1EA-257A-56DC-52CB-6017253EA162}"/>
              </a:ext>
            </a:extLst>
          </p:cNvPr>
          <p:cNvSpPr/>
          <p:nvPr/>
        </p:nvSpPr>
        <p:spPr>
          <a:xfrm>
            <a:off x="1125240" y="448072"/>
            <a:ext cx="635496" cy="166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1292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63CBE83-DF93-9714-733A-2499139D0044}"/>
              </a:ext>
            </a:extLst>
          </p:cNvPr>
          <p:cNvSpPr/>
          <p:nvPr/>
        </p:nvSpPr>
        <p:spPr>
          <a:xfrm>
            <a:off x="3688073" y="152400"/>
            <a:ext cx="4441296" cy="13715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2875"/>
              </a:lnSpc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875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: 1 </a:t>
            </a:r>
          </a:p>
          <a:p>
            <a:pPr algn="ctr">
              <a:lnSpc>
                <a:spcPts val="2875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RFID-Based Secure Door Access &amp; Intrusion Detection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9DF7AC0-1FCA-93ED-9917-7EA313011835}"/>
              </a:ext>
            </a:extLst>
          </p:cNvPr>
          <p:cNvSpPr/>
          <p:nvPr/>
        </p:nvSpPr>
        <p:spPr>
          <a:xfrm>
            <a:off x="8038386" y="4726609"/>
            <a:ext cx="2276374" cy="2845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2208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8" descr="Picture 8">
            <a:extLst>
              <a:ext uri="{FF2B5EF4-FFF2-40B4-BE49-F238E27FC236}">
                <a16:creationId xmlns:a16="http://schemas.microsoft.com/office/drawing/2014/main" id="{39B2EF75-4E49-C44C-14DB-4E2F1BA4A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411" y="4104"/>
            <a:ext cx="1174465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" name="Picture 12" descr="Picture 12">
            <a:extLst>
              <a:ext uri="{FF2B5EF4-FFF2-40B4-BE49-F238E27FC236}">
                <a16:creationId xmlns:a16="http://schemas.microsoft.com/office/drawing/2014/main" id="{C5A98C3F-0DA1-8BA3-F7C8-4D49EC299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" y="4105"/>
            <a:ext cx="1079501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E5DB86-FB6B-21E7-AF70-50CD0C4DCA4A}"/>
              </a:ext>
            </a:extLst>
          </p:cNvPr>
          <p:cNvSpPr txBox="1"/>
          <p:nvPr/>
        </p:nvSpPr>
        <p:spPr>
          <a:xfrm>
            <a:off x="574821" y="1617686"/>
            <a:ext cx="42257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card scanning using RC522 RFID reader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and verify RFID card ID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card → Access Granted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card → Access Denied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 buzzer/alarm for unauthorized access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the solenoid door lock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access status on LCD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repeated unauthorized access attempts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7C5FBF-99A1-189C-EA5F-A469D1169654}"/>
              </a:ext>
            </a:extLst>
          </p:cNvPr>
          <p:cNvSpPr txBox="1"/>
          <p:nvPr/>
        </p:nvSpPr>
        <p:spPr>
          <a:xfrm>
            <a:off x="560073" y="474471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RC522 → ESP32 → LCD → Solenoid Lock → Buzzer</a:t>
            </a:r>
          </a:p>
        </p:txBody>
      </p:sp>
      <p:pic>
        <p:nvPicPr>
          <p:cNvPr id="9" name="Picture 8" descr="https://images.openai.com/static-rsc-4/W6eR0eSkEzM07vkcJYZ5ZUBsmmH_b0aWYJtdMrHmyUD244JtE6GPFPxoxN441dZPvhaZ33Gb5-Ju3EkMZOWDyFecIYQgMZCFUA83hI17KEWQ5DeAYXnUXO6nyk7YohhN5L32XAWrXcQmbMrEVOZ84zDtpdR05ThxmhUAcNRhbGhG6cd4K0jsN-53V7aMhb-G?purpose=fullsize">
            <a:extLst>
              <a:ext uri="{FF2B5EF4-FFF2-40B4-BE49-F238E27FC236}">
                <a16:creationId xmlns:a16="http://schemas.microsoft.com/office/drawing/2014/main" id="{49DABCC7-A63E-FA1F-D3B1-A1B1E8079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0821" y="1729561"/>
            <a:ext cx="3997178" cy="31393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6892018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35197-B70D-7F86-4170-A944403DA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6A66D34-1912-76D1-D2EB-9AE2C946DBA5}"/>
              </a:ext>
            </a:extLst>
          </p:cNvPr>
          <p:cNvSpPr/>
          <p:nvPr/>
        </p:nvSpPr>
        <p:spPr>
          <a:xfrm>
            <a:off x="1125240" y="448072"/>
            <a:ext cx="635496" cy="166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1292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F88B04-3CD9-68C4-01D2-AB8596ABB06E}"/>
              </a:ext>
            </a:extLst>
          </p:cNvPr>
          <p:cNvSpPr/>
          <p:nvPr/>
        </p:nvSpPr>
        <p:spPr>
          <a:xfrm>
            <a:off x="3747559" y="521229"/>
            <a:ext cx="4441296" cy="4175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2875"/>
              </a:lnSpc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1B9677A-3DCE-A3FF-47B0-44ED542C88DE}"/>
              </a:ext>
            </a:extLst>
          </p:cNvPr>
          <p:cNvSpPr/>
          <p:nvPr/>
        </p:nvSpPr>
        <p:spPr>
          <a:xfrm>
            <a:off x="8038386" y="4726609"/>
            <a:ext cx="2276374" cy="2845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2208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8" descr="Picture 8">
            <a:extLst>
              <a:ext uri="{FF2B5EF4-FFF2-40B4-BE49-F238E27FC236}">
                <a16:creationId xmlns:a16="http://schemas.microsoft.com/office/drawing/2014/main" id="{1A404557-2030-C71A-814C-D57AC923A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411" y="4104"/>
            <a:ext cx="1174465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" name="Picture 12" descr="Picture 12">
            <a:extLst>
              <a:ext uri="{FF2B5EF4-FFF2-40B4-BE49-F238E27FC236}">
                <a16:creationId xmlns:a16="http://schemas.microsoft.com/office/drawing/2014/main" id="{EC0C2D95-D8D1-D71B-E4F3-CCFEF3864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" y="4105"/>
            <a:ext cx="1079501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48C4F2-0D3E-DFB7-2DB8-33320D74F26F}"/>
              </a:ext>
            </a:extLst>
          </p:cNvPr>
          <p:cNvSpPr txBox="1"/>
          <p:nvPr/>
        </p:nvSpPr>
        <p:spPr>
          <a:xfrm>
            <a:off x="2636915" y="188998"/>
            <a:ext cx="6096000" cy="851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5"/>
              </a:lnSpc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875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: 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69F272-14FA-72E9-65DC-84B17E1960C3}"/>
              </a:ext>
            </a:extLst>
          </p:cNvPr>
          <p:cNvSpPr txBox="1"/>
          <p:nvPr/>
        </p:nvSpPr>
        <p:spPr>
          <a:xfrm>
            <a:off x="2133600" y="938742"/>
            <a:ext cx="8458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Network-Based Monitoring &amp; Security 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57665E-0995-74B7-8E43-859ED454F60A}"/>
              </a:ext>
            </a:extLst>
          </p:cNvPr>
          <p:cNvSpPr txBox="1"/>
          <p:nvPr/>
        </p:nvSpPr>
        <p:spPr>
          <a:xfrm>
            <a:off x="693814" y="1688486"/>
            <a:ext cx="418298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Wi-Fi communication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access/intrusion events to the server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access logs in a database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dashboard/mobile interface for monitoring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display of authorized and unauthorized attempts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Email/SMS alerts for intrusion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access history and generate reports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A04433-C425-44C6-7B09-E65E39002E63}"/>
              </a:ext>
            </a:extLst>
          </p:cNvPr>
          <p:cNvSpPr txBox="1"/>
          <p:nvPr/>
        </p:nvSpPr>
        <p:spPr>
          <a:xfrm>
            <a:off x="699558" y="4868882"/>
            <a:ext cx="64632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Wi-Fi → Server/Database → Web Dashboard/Mobile App → Alerts &amp; Reports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2FEF4BA-71AA-F926-AB38-D7D4DD7FA9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281" y="1684104"/>
            <a:ext cx="4066729" cy="31393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1133107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6D07-DB95-8839-DC67-37B86A08A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85D519C-02B1-4E34-4493-CF0BD468D10C}"/>
              </a:ext>
            </a:extLst>
          </p:cNvPr>
          <p:cNvSpPr/>
          <p:nvPr/>
        </p:nvSpPr>
        <p:spPr>
          <a:xfrm>
            <a:off x="1125240" y="448072"/>
            <a:ext cx="635496" cy="166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1292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4AFFE0-FD58-8663-C519-1D7ED6D86551}"/>
              </a:ext>
            </a:extLst>
          </p:cNvPr>
          <p:cNvSpPr/>
          <p:nvPr/>
        </p:nvSpPr>
        <p:spPr>
          <a:xfrm>
            <a:off x="3747559" y="521229"/>
            <a:ext cx="4441296" cy="4175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2875"/>
              </a:lnSpc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1766B41-C6CF-1BFF-883C-ADBBA3337B1C}"/>
              </a:ext>
            </a:extLst>
          </p:cNvPr>
          <p:cNvSpPr/>
          <p:nvPr/>
        </p:nvSpPr>
        <p:spPr>
          <a:xfrm>
            <a:off x="8038386" y="4726609"/>
            <a:ext cx="2276374" cy="2845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2208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8" descr="Picture 8">
            <a:extLst>
              <a:ext uri="{FF2B5EF4-FFF2-40B4-BE49-F238E27FC236}">
                <a16:creationId xmlns:a16="http://schemas.microsoft.com/office/drawing/2014/main" id="{0CA00457-0859-ED95-0901-2794321F8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411" y="4104"/>
            <a:ext cx="1174465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" name="Picture 12" descr="Picture 12">
            <a:extLst>
              <a:ext uri="{FF2B5EF4-FFF2-40B4-BE49-F238E27FC236}">
                <a16:creationId xmlns:a16="http://schemas.microsoft.com/office/drawing/2014/main" id="{45F9D094-2F9F-7B8B-D9A2-552D553DC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" y="4105"/>
            <a:ext cx="1079501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A4960-A4B5-3686-6472-19F8E11CE819}"/>
              </a:ext>
            </a:extLst>
          </p:cNvPr>
          <p:cNvSpPr txBox="1"/>
          <p:nvPr/>
        </p:nvSpPr>
        <p:spPr>
          <a:xfrm>
            <a:off x="2636915" y="188998"/>
            <a:ext cx="6096000" cy="851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5"/>
              </a:lnSpc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875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: 3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C5F517-BC70-5CBB-08C6-7999473D87B0}"/>
              </a:ext>
            </a:extLst>
          </p:cNvPr>
          <p:cNvSpPr txBox="1"/>
          <p:nvPr/>
        </p:nvSpPr>
        <p:spPr>
          <a:xfrm>
            <a:off x="2133600" y="938742"/>
            <a:ext cx="8458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PERFORMANCES AND ANALYSIS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572FB-9725-D6D0-7E2A-019C5DA012FC}"/>
              </a:ext>
            </a:extLst>
          </p:cNvPr>
          <p:cNvSpPr txBox="1"/>
          <p:nvPr/>
        </p:nvSpPr>
        <p:spPr>
          <a:xfrm>
            <a:off x="567447" y="1846934"/>
            <a:ext cx="764107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Authentication Accuracy</a:t>
            </a:r>
            <a:r>
              <a:rPr lang="en-IN" dirty="0"/>
              <a:t> – Accurately identifies authorized and unauthorized RFID cards.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Response Time</a:t>
            </a:r>
            <a:r>
              <a:rPr lang="en-IN" dirty="0"/>
              <a:t> – Provides quick authentication and door-lock operation after RFID scanning.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Intrusion Detection</a:t>
            </a:r>
            <a:r>
              <a:rPr lang="en-IN" dirty="0"/>
              <a:t> – Detects unauthorized access attempts and prevents entry.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Network Performance</a:t>
            </a:r>
            <a:r>
              <a:rPr lang="en-IN" dirty="0"/>
              <a:t> – Transmits access and intrusion information reliably over the network.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Door Lock Reliability</a:t>
            </a:r>
            <a:r>
              <a:rPr lang="en-IN" dirty="0"/>
              <a:t> – Unlocks for authorized users and remains locked for unauthorized users.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System Security &amp; Scalability</a:t>
            </a:r>
            <a:r>
              <a:rPr lang="en-IN" dirty="0"/>
              <a:t> – Provides secure access control and can be extended to multiple doors and users.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D52C7F-3397-A274-80B5-27F336F7A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1945" y="2096978"/>
            <a:ext cx="3322608" cy="257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14458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25B86-017F-8DBD-5038-3ABD1AEB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 descr="Picture 12">
            <a:extLst>
              <a:ext uri="{FF2B5EF4-FFF2-40B4-BE49-F238E27FC236}">
                <a16:creationId xmlns:a16="http://schemas.microsoft.com/office/drawing/2014/main" id="{AE8AE3F9-3932-C3AB-72A5-0DFC52BF3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" y="4105"/>
            <a:ext cx="1079501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" name="Picture 8" descr="Picture 8">
            <a:extLst>
              <a:ext uri="{FF2B5EF4-FFF2-40B4-BE49-F238E27FC236}">
                <a16:creationId xmlns:a16="http://schemas.microsoft.com/office/drawing/2014/main" id="{10A6ED9C-59C2-5605-8803-4F0E19829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9411" y="4104"/>
            <a:ext cx="1174465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6C777F-902E-58F5-6D9A-A4686FD65BEA}"/>
              </a:ext>
            </a:extLst>
          </p:cNvPr>
          <p:cNvSpPr txBox="1"/>
          <p:nvPr/>
        </p:nvSpPr>
        <p:spPr>
          <a:xfrm>
            <a:off x="2971800" y="457200"/>
            <a:ext cx="6732467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272D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TECHNIQUES USED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00A50550-5983-CABE-1EF9-75CB4B4FCC72}"/>
              </a:ext>
            </a:extLst>
          </p:cNvPr>
          <p:cNvSpPr txBox="1"/>
          <p:nvPr/>
        </p:nvSpPr>
        <p:spPr>
          <a:xfrm>
            <a:off x="1087438" y="1710267"/>
            <a:ext cx="4499504" cy="3499379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</a:pPr>
            <a:endParaRPr lang="en-US" altLang="zh-CN" sz="1333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11038EF-B091-21B8-DD31-99B49A82640B}"/>
              </a:ext>
            </a:extLst>
          </p:cNvPr>
          <p:cNvSpPr txBox="1"/>
          <p:nvPr/>
        </p:nvSpPr>
        <p:spPr>
          <a:xfrm>
            <a:off x="6569075" y="1710267"/>
            <a:ext cx="4233333" cy="3172354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6B33FE-178C-2CD9-9F59-F569633B6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611439"/>
              </p:ext>
            </p:extLst>
          </p:nvPr>
        </p:nvGraphicFramePr>
        <p:xfrm>
          <a:off x="609600" y="1165626"/>
          <a:ext cx="11049000" cy="5242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24500">
                  <a:extLst>
                    <a:ext uri="{9D8B030D-6E8A-4147-A177-3AD203B41FA5}">
                      <a16:colId xmlns:a16="http://schemas.microsoft.com/office/drawing/2014/main" val="1685768617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312043374"/>
                    </a:ext>
                  </a:extLst>
                </a:gridCol>
              </a:tblGrid>
              <a:tr h="57073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USED: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USED: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998380"/>
                  </a:ext>
                </a:extLst>
              </a:tr>
              <a:tr h="51638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Microcontroller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RFID-Based User Authentication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946436"/>
                  </a:ext>
                </a:extLst>
              </a:tr>
              <a:tr h="51638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RFID Reader (RC522)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Intrusion Detection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862665"/>
                  </a:ext>
                </a:extLst>
              </a:tr>
              <a:tr h="51638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RFID Cards/Tags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Communication (Wi-Fi)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016848"/>
                  </a:ext>
                </a:extLst>
              </a:tr>
              <a:tr h="51638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Solenoid Door Lock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Door Lock Control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80875"/>
                  </a:ext>
                </a:extLst>
              </a:tr>
              <a:tr h="51638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Magnetic Door Sensor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Control and User Verification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255301"/>
                  </a:ext>
                </a:extLst>
              </a:tr>
              <a:tr h="516380">
                <a:tc>
                  <a:txBody>
                    <a:bodyPr/>
                    <a:lstStyle/>
                    <a:p>
                      <a:r>
                        <a:rPr lang="en-US" sz="1600" dirty="0"/>
                        <a:t>LED Lights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Alert Notification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73162"/>
                  </a:ext>
                </a:extLst>
              </a:tr>
              <a:tr h="51638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IDE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 Logging and Monitoring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897645"/>
                  </a:ext>
                </a:extLst>
              </a:tr>
              <a:tr h="516380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Server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Access Management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038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292755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4A771-2041-2176-CFC5-8A696D9D6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5194A26-905B-F288-EA55-AFE2CC3707BC}"/>
              </a:ext>
            </a:extLst>
          </p:cNvPr>
          <p:cNvSpPr/>
          <p:nvPr/>
        </p:nvSpPr>
        <p:spPr>
          <a:xfrm>
            <a:off x="1125240" y="448072"/>
            <a:ext cx="635496" cy="166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1292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EC5EB6-4D02-A249-421A-B5C236148AD5}"/>
              </a:ext>
            </a:extLst>
          </p:cNvPr>
          <p:cNvSpPr/>
          <p:nvPr/>
        </p:nvSpPr>
        <p:spPr>
          <a:xfrm>
            <a:off x="3747559" y="521229"/>
            <a:ext cx="4441296" cy="4175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2875"/>
              </a:lnSpc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3887DC3-5B2E-C07D-8382-F4326377596F}"/>
              </a:ext>
            </a:extLst>
          </p:cNvPr>
          <p:cNvSpPr/>
          <p:nvPr/>
        </p:nvSpPr>
        <p:spPr>
          <a:xfrm>
            <a:off x="8038386" y="4726609"/>
            <a:ext cx="2276374" cy="2845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2208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8" descr="Picture 8">
            <a:extLst>
              <a:ext uri="{FF2B5EF4-FFF2-40B4-BE49-F238E27FC236}">
                <a16:creationId xmlns:a16="http://schemas.microsoft.com/office/drawing/2014/main" id="{2FEFDDD5-8799-8362-9996-0078841C7F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9411" y="4104"/>
            <a:ext cx="1174465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" name="Picture 12" descr="Picture 12">
            <a:extLst>
              <a:ext uri="{FF2B5EF4-FFF2-40B4-BE49-F238E27FC236}">
                <a16:creationId xmlns:a16="http://schemas.microsoft.com/office/drawing/2014/main" id="{76AE05D2-ADD4-11CB-1BC9-2633A06477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2" y="4105"/>
            <a:ext cx="1079501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6D3CDA-71EE-12C8-41FA-B51307D099C5}"/>
              </a:ext>
            </a:extLst>
          </p:cNvPr>
          <p:cNvSpPr txBox="1"/>
          <p:nvPr/>
        </p:nvSpPr>
        <p:spPr>
          <a:xfrm>
            <a:off x="2095301" y="437597"/>
            <a:ext cx="8251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MODEL DEMONSTRATION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12333">
            <a:hlinkClick r:id="" action="ppaction://media"/>
            <a:extLst>
              <a:ext uri="{FF2B5EF4-FFF2-40B4-BE49-F238E27FC236}">
                <a16:creationId xmlns:a16="http://schemas.microsoft.com/office/drawing/2014/main" id="{AD6E182F-03EE-8D56-2859-83C4015880E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85800" y="1371600"/>
            <a:ext cx="10333611" cy="450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469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5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BEF7E-76AB-E12D-CC14-2246AA719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4BFC592-A2A2-4065-BB7D-434B688BA3CC}"/>
              </a:ext>
            </a:extLst>
          </p:cNvPr>
          <p:cNvSpPr/>
          <p:nvPr/>
        </p:nvSpPr>
        <p:spPr>
          <a:xfrm>
            <a:off x="1125240" y="448072"/>
            <a:ext cx="635496" cy="166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1292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7D2A9B-9E2D-5BC8-C4BD-FCB90FED565A}"/>
              </a:ext>
            </a:extLst>
          </p:cNvPr>
          <p:cNvSpPr/>
          <p:nvPr/>
        </p:nvSpPr>
        <p:spPr>
          <a:xfrm>
            <a:off x="3747559" y="521229"/>
            <a:ext cx="4441296" cy="4175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2875"/>
              </a:lnSpc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F198EBB-9950-8E07-0C2B-46FADC81061F}"/>
              </a:ext>
            </a:extLst>
          </p:cNvPr>
          <p:cNvSpPr/>
          <p:nvPr/>
        </p:nvSpPr>
        <p:spPr>
          <a:xfrm>
            <a:off x="8038386" y="4726609"/>
            <a:ext cx="2276374" cy="2845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2208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8" descr="Picture 8">
            <a:extLst>
              <a:ext uri="{FF2B5EF4-FFF2-40B4-BE49-F238E27FC236}">
                <a16:creationId xmlns:a16="http://schemas.microsoft.com/office/drawing/2014/main" id="{5A84FF59-1A43-B362-D117-87055FEAD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411" y="4104"/>
            <a:ext cx="1174465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" name="Picture 12" descr="Picture 12">
            <a:extLst>
              <a:ext uri="{FF2B5EF4-FFF2-40B4-BE49-F238E27FC236}">
                <a16:creationId xmlns:a16="http://schemas.microsoft.com/office/drawing/2014/main" id="{44882F36-C6A8-E7B4-7DB3-CC6F5BB2A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" y="4105"/>
            <a:ext cx="1079501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EF0086-F002-9B22-23AD-30429AD51011}"/>
              </a:ext>
            </a:extLst>
          </p:cNvPr>
          <p:cNvSpPr txBox="1"/>
          <p:nvPr/>
        </p:nvSpPr>
        <p:spPr>
          <a:xfrm>
            <a:off x="3048000" y="415522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STANDARDS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C35F5-ADAA-FC63-2809-9FA25B8210EB}"/>
              </a:ext>
            </a:extLst>
          </p:cNvPr>
          <p:cNvSpPr txBox="1"/>
          <p:nvPr/>
        </p:nvSpPr>
        <p:spPr>
          <a:xfrm>
            <a:off x="838200" y="1447800"/>
            <a:ext cx="9829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14443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Standard for RFID proximity cards and readers used for secure user authentication.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18000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Defines RFID air-interface standards for communication between RFID tags and readers.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802.11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Standard for wireless network communication when Wi-Fi is used to transmit access and intrusion information.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IEC 62443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Industrial cybersecurity standard used as a reference for protecting network-connected control systems against unauthorized access and cyber threats.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27001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Information security standard that provides guidelines for protecting authentication data, access records, and network information.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802.3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Ethernet networking standard applicable when the RFID door-lock system communicates through a wired LAN.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IEC 60529 (IP Code)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Can be considered for selecting protective enclosures for RFID readers, controllers, and electronic components used in physical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46025130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0EC75-15A5-47AE-696E-E854EDADA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48BB891-EFB5-B2CE-235B-4AECDD6AF287}"/>
              </a:ext>
            </a:extLst>
          </p:cNvPr>
          <p:cNvSpPr/>
          <p:nvPr/>
        </p:nvSpPr>
        <p:spPr>
          <a:xfrm>
            <a:off x="1125240" y="448072"/>
            <a:ext cx="635496" cy="166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1292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2AF66F8-7120-C4B7-EE20-2CB8F5297BE8}"/>
              </a:ext>
            </a:extLst>
          </p:cNvPr>
          <p:cNvSpPr/>
          <p:nvPr/>
        </p:nvSpPr>
        <p:spPr>
          <a:xfrm>
            <a:off x="3747559" y="521229"/>
            <a:ext cx="4441296" cy="4175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2875"/>
              </a:lnSpc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83F50D8-7593-AD9B-56EB-B2EF6AF6BCF7}"/>
              </a:ext>
            </a:extLst>
          </p:cNvPr>
          <p:cNvSpPr/>
          <p:nvPr/>
        </p:nvSpPr>
        <p:spPr>
          <a:xfrm>
            <a:off x="8038386" y="4726609"/>
            <a:ext cx="2276374" cy="2845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2208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8" descr="Picture 8">
            <a:extLst>
              <a:ext uri="{FF2B5EF4-FFF2-40B4-BE49-F238E27FC236}">
                <a16:creationId xmlns:a16="http://schemas.microsoft.com/office/drawing/2014/main" id="{B28C14AD-EAC2-FEAF-BE40-49112FE30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411" y="4104"/>
            <a:ext cx="1174465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" name="Picture 12" descr="Picture 12">
            <a:extLst>
              <a:ext uri="{FF2B5EF4-FFF2-40B4-BE49-F238E27FC236}">
                <a16:creationId xmlns:a16="http://schemas.microsoft.com/office/drawing/2014/main" id="{F8883F0E-97AC-D267-1357-3AD68EC72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" y="4105"/>
            <a:ext cx="1079501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5BE676-4805-BAB1-0A74-31072380F2A2}"/>
              </a:ext>
            </a:extLst>
          </p:cNvPr>
          <p:cNvSpPr txBox="1"/>
          <p:nvPr/>
        </p:nvSpPr>
        <p:spPr>
          <a:xfrm>
            <a:off x="3124200" y="762000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5E77FA-ACAE-7F47-11CE-E7CF87378B55}"/>
              </a:ext>
            </a:extLst>
          </p:cNvPr>
          <p:cNvSpPr txBox="1"/>
          <p:nvPr/>
        </p:nvSpPr>
        <p:spPr>
          <a:xfrm>
            <a:off x="2196307" y="437597"/>
            <a:ext cx="754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3365BF-C73C-8109-E2EC-1C166E226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68930"/>
              </p:ext>
            </p:extLst>
          </p:nvPr>
        </p:nvGraphicFramePr>
        <p:xfrm>
          <a:off x="685800" y="1263143"/>
          <a:ext cx="10668000" cy="475665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415227768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016714207"/>
                    </a:ext>
                  </a:extLst>
                </a:gridCol>
              </a:tblGrid>
              <a:tr h="951331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302459"/>
                  </a:ext>
                </a:extLst>
              </a:tr>
              <a:tr h="951331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secure and automated door access using RFID authentication.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may be affected by network failure or connectivity issues.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788609"/>
                  </a:ext>
                </a:extLst>
              </a:tr>
              <a:tr h="951331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unauthorized entry attempts and improves intrusion monitoring.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RFID cards can be lost, stolen, or cloned.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831705"/>
                  </a:ext>
                </a:extLst>
              </a:tr>
              <a:tr h="951331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network-based monitoring and remote security control.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proper hardware installation and regular maintenance.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024573"/>
                  </a:ext>
                </a:extLst>
              </a:tr>
              <a:tr h="951331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the need for manual security management and improves convenience.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implementation may involve additional setup and infrastructure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550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360524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C7C70-78DC-6BA6-C139-FCC97B730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18047DE-8A5B-6EA3-DBD6-76CF17309B17}"/>
              </a:ext>
            </a:extLst>
          </p:cNvPr>
          <p:cNvSpPr/>
          <p:nvPr/>
        </p:nvSpPr>
        <p:spPr>
          <a:xfrm>
            <a:off x="1125240" y="448072"/>
            <a:ext cx="635496" cy="166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1292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157060-1A08-B9F9-9718-351C9DD2389F}"/>
              </a:ext>
            </a:extLst>
          </p:cNvPr>
          <p:cNvSpPr/>
          <p:nvPr/>
        </p:nvSpPr>
        <p:spPr>
          <a:xfrm>
            <a:off x="3747559" y="521229"/>
            <a:ext cx="4441296" cy="4175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2875"/>
              </a:lnSpc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8CB4CB0-8AAB-D2EA-3544-B16A5313DD11}"/>
              </a:ext>
            </a:extLst>
          </p:cNvPr>
          <p:cNvSpPr/>
          <p:nvPr/>
        </p:nvSpPr>
        <p:spPr>
          <a:xfrm>
            <a:off x="8038386" y="4726609"/>
            <a:ext cx="2276374" cy="2845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2208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8" descr="Picture 8">
            <a:extLst>
              <a:ext uri="{FF2B5EF4-FFF2-40B4-BE49-F238E27FC236}">
                <a16:creationId xmlns:a16="http://schemas.microsoft.com/office/drawing/2014/main" id="{F990735E-C893-5F58-C56C-983603AAE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411" y="4104"/>
            <a:ext cx="1174465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" name="Picture 12" descr="Picture 12">
            <a:extLst>
              <a:ext uri="{FF2B5EF4-FFF2-40B4-BE49-F238E27FC236}">
                <a16:creationId xmlns:a16="http://schemas.microsoft.com/office/drawing/2014/main" id="{62F02281-2CF8-223A-A863-858F22A79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" y="4105"/>
            <a:ext cx="1079501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63C83E-CDB9-D083-41D7-27A0D2FF2454}"/>
              </a:ext>
            </a:extLst>
          </p:cNvPr>
          <p:cNvSpPr txBox="1"/>
          <p:nvPr/>
        </p:nvSpPr>
        <p:spPr>
          <a:xfrm>
            <a:off x="3606007" y="486882"/>
            <a:ext cx="472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026886-890E-5501-65A9-D73A00063E5D}"/>
              </a:ext>
            </a:extLst>
          </p:cNvPr>
          <p:cNvSpPr txBox="1"/>
          <p:nvPr/>
        </p:nvSpPr>
        <p:spPr>
          <a:xfrm>
            <a:off x="519907" y="1676400"/>
            <a:ext cx="6172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Mobile-Based Control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 a mobile application for remote door access and monitoring.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Integration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 RFID with fingerprint or face recognition for stronger authentication.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 Storage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 access records and security data securely on cloud platforms.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Detection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Artificial Intelligence to identify suspicious activities and intrusion patterns.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Integration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Connect the system with smart home and IoT devices for automated security control.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 instant notifications through SMS, email, or mobile alerts during unauthorized access attempts.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RFID based Automatic Door Lock System with Arduino">
            <a:extLst>
              <a:ext uri="{FF2B5EF4-FFF2-40B4-BE49-F238E27FC236}">
                <a16:creationId xmlns:a16="http://schemas.microsoft.com/office/drawing/2014/main" id="{68C1582A-26E0-A24D-C27F-2032D721C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3398" y="1905000"/>
            <a:ext cx="4226350" cy="255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27628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EE68C-DA3D-385D-650E-0A30C237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73A343E-BA82-2708-CC7E-9BF171E0D1EF}"/>
              </a:ext>
            </a:extLst>
          </p:cNvPr>
          <p:cNvSpPr/>
          <p:nvPr/>
        </p:nvSpPr>
        <p:spPr>
          <a:xfrm>
            <a:off x="1125240" y="448072"/>
            <a:ext cx="635496" cy="166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1292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85EF18-88D7-9FA2-87B7-961696668CA2}"/>
              </a:ext>
            </a:extLst>
          </p:cNvPr>
          <p:cNvSpPr/>
          <p:nvPr/>
        </p:nvSpPr>
        <p:spPr>
          <a:xfrm>
            <a:off x="3747559" y="521229"/>
            <a:ext cx="4441296" cy="4175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2875"/>
              </a:lnSpc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62B79B1-157F-5D22-455C-E78C04866B57}"/>
              </a:ext>
            </a:extLst>
          </p:cNvPr>
          <p:cNvSpPr/>
          <p:nvPr/>
        </p:nvSpPr>
        <p:spPr>
          <a:xfrm>
            <a:off x="8038386" y="4726609"/>
            <a:ext cx="2276374" cy="2845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2208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8" descr="Picture 8">
            <a:extLst>
              <a:ext uri="{FF2B5EF4-FFF2-40B4-BE49-F238E27FC236}">
                <a16:creationId xmlns:a16="http://schemas.microsoft.com/office/drawing/2014/main" id="{E25CABE6-A7B0-F98F-7D27-7EF202249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411" y="4104"/>
            <a:ext cx="1174465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" name="Picture 12" descr="Picture 12">
            <a:extLst>
              <a:ext uri="{FF2B5EF4-FFF2-40B4-BE49-F238E27FC236}">
                <a16:creationId xmlns:a16="http://schemas.microsoft.com/office/drawing/2014/main" id="{65EE372A-9D56-04EC-94B2-7DE195D02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" y="4105"/>
            <a:ext cx="1079501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AFCF50-3517-C9E2-00CD-3B2E3C3F1A19}"/>
              </a:ext>
            </a:extLst>
          </p:cNvPr>
          <p:cNvSpPr txBox="1"/>
          <p:nvPr/>
        </p:nvSpPr>
        <p:spPr>
          <a:xfrm>
            <a:off x="3747559" y="469612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DF9105-41EF-C715-9BC7-E8894E536D21}"/>
              </a:ext>
            </a:extLst>
          </p:cNvPr>
          <p:cNvSpPr txBox="1"/>
          <p:nvPr/>
        </p:nvSpPr>
        <p:spPr>
          <a:xfrm>
            <a:off x="547782" y="1447800"/>
            <a:ext cx="609600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Secure Intrusion Detection Door Lock System using RFID over Networks provides a secure and automated method for controlling access to protected areas.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authentication ensures that only authorized users can unlock the door, helping to reduce unauthorized access.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intrusion detection feature identifies suspicious entry attempts and supports immediate security alerts.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connectivity enables real-time monitoring and access record management, improving overall security control.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offers a reliable, efficient, and user-friendly security solution that can be further enhanced using IoT, biometrics, AI, and cloud technologies.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8869B6-46DF-184D-5DAA-375D45D534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1588026"/>
            <a:ext cx="3247011" cy="329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36541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 descr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079500" cy="11615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" name="Picture 18" descr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535" y="0"/>
            <a:ext cx="1174465" cy="11615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421038" y="580759"/>
            <a:ext cx="6096000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272D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112500" cy="41975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Batra &amp; A.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Pattnaik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RFID Smart Card Door Lock, International Journal of Engineering Research &amp; Technology (IJERT), **Vol. 10, Issue 11, Nov. 2021_.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Shubham Soni, Rajni Soni &amp; Akhilesh A.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Waoo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RFID-Based Digital Door Locking System, Indian Journal of Microprocessors and Microcontroller, **Vol. 1, No. 2, 2021_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Nasution, Herwin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Andesa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K, RFID and Voice Recognition Based Dual Security System: A Robust Secured Control to Access Through Door Lock Operation, Journal of Research and Technology, **Vol. 10, No. 1, June 2024_.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Yudi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Wijanarko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Niksen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Alfarizal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Muhammad Regi Pratama, Implementation of an RFID RC522 and IoT-Based Automatic Door Security System, Indonesian Journal of Artificial Intelligence and Data Mining, **Vol. 8, No. 2, 2025_.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Images - Free Download on Magnific (formerly Freepik)">
            <a:extLst>
              <a:ext uri="{FF2B5EF4-FFF2-40B4-BE49-F238E27FC236}">
                <a16:creationId xmlns:a16="http://schemas.microsoft.com/office/drawing/2014/main" id="{E989B9B8-D5D0-AAD7-4925-728F0BDCC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1321670"/>
            <a:ext cx="596265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3271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3*395"/>
  <p:tag name="TABLE_ENDDRAG_RECT" val="48*100*873*39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E5E34F5-DA71-458A-B185-0505FCD63CA0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1418</TotalTime>
  <Words>1602</Words>
  <Application>Microsoft Office PowerPoint</Application>
  <PresentationFormat>Widescreen</PresentationFormat>
  <Paragraphs>170</Paragraphs>
  <Slides>19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Times New Roman</vt:lpstr>
      <vt:lpstr>Office Theme</vt:lpstr>
      <vt:lpstr>PowerPoint Presentation</vt:lpstr>
      <vt:lpstr>INTRODUCTION</vt:lpstr>
      <vt:lpstr>OBJECTIVE</vt:lpstr>
      <vt:lpstr>Literature Review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 SANTHOSH KUMAR</dc:creator>
  <cp:lastModifiedBy>Krishna Priya P</cp:lastModifiedBy>
  <cp:revision>20</cp:revision>
  <dcterms:created xsi:type="dcterms:W3CDTF">2026-02-01T18:02:23Z</dcterms:created>
  <dcterms:modified xsi:type="dcterms:W3CDTF">2026-09-01T08:49:52Z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2026-02-01T00:00:00Z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2026-02-01T00:00:00Z</vt:filetime>
  </property>
</Properties>
</file>